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F06701-8991-4E9C-98F2-AF8AB3E64776}">
  <a:tblStyle styleId="{2CF06701-8991-4E9C-98F2-AF8AB3E647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1d7bec405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1d7bec405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1e1de0c3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1e1de0c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3d8aac5c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3d8aac5c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3d8aac5c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3d8aac5c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1e1de0c3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1e1de0c3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1e1de0c3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1e1de0c3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1e1de0c3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1e1de0c3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3d8aac5c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3d8aac5c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1d7bec40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1d7bec40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1d7bec405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1d7bec405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www.google.com/search?sca_esv=cedc331ac025ea34&amp;sxsrf=AE3TifNRv_axct14uTlq169xiyXfE3x56Q:1765991029484&amp;q=neighbours&amp;spell=1&amp;sa=X&amp;ved=2ahUKEwj5tvSfjcWRAxVdSTABHQhJHNoQkeECKAB6BAgfEA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hyperlink" Target="https://www.google.com/search?sca_esv=cedc331ac025ea34&amp;sxsrf=AE3TifNRv_axct14uTlq169xiyXfE3x56Q:1765991029484&amp;q=neighbours&amp;spell=1&amp;sa=X&amp;ved=2ahUKEwj5tvSfjcWRAxVdSTABHQhJHNoQkeECKAB6BAgfEA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hyperlink" Target="https://www.google.com/search?sca_esv=cedc331ac025ea34&amp;sxsrf=AE3TifNRv_axct14uTlq169xiyXfE3x56Q:1765991029484&amp;q=neighbours&amp;spell=1&amp;sa=X&amp;ved=2ahUKEwj5tvSfjcWRAxVdSTABHQhJHNoQkeECKAB6BAgfEA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300" y="0"/>
            <a:ext cx="9144000" cy="514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100">
                <a:solidFill>
                  <a:schemeClr val="lt1"/>
                </a:solidFill>
              </a:rPr>
              <a:t>Linked List</a:t>
            </a:r>
            <a:endParaRPr sz="71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By: Guillermo Andres De Mendoza Corrales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57" name="Google Shape;57;p13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4216438" y="3297975"/>
            <a:ext cx="723725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Theory</a:t>
            </a:r>
            <a:endParaRPr b="1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998825"/>
            <a:ext cx="3684600" cy="3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A </a:t>
            </a:r>
            <a:r>
              <a:rPr b="1" lang="es" sz="1100">
                <a:solidFill>
                  <a:schemeClr val="dk1"/>
                </a:solidFill>
              </a:rPr>
              <a:t>Linked List</a:t>
            </a:r>
            <a:r>
              <a:rPr lang="es" sz="1100">
                <a:solidFill>
                  <a:schemeClr val="dk1"/>
                </a:solidFill>
              </a:rPr>
              <a:t> is a linear data structure where elements are not stored in contiguous memory locations. Instead, elements are linked using </a:t>
            </a:r>
            <a:r>
              <a:rPr b="1" lang="es" sz="1100">
                <a:solidFill>
                  <a:schemeClr val="dk1"/>
                </a:solidFill>
              </a:rPr>
              <a:t>pointers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</a:rPr>
              <a:t>2. The Anatomy of a Node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Each element in a linked list is called a </a:t>
            </a:r>
            <a:r>
              <a:rPr b="1" lang="es" sz="1100">
                <a:solidFill>
                  <a:schemeClr val="dk1"/>
                </a:solidFill>
              </a:rPr>
              <a:t>Node</a:t>
            </a:r>
            <a:r>
              <a:rPr lang="es" sz="1100">
                <a:solidFill>
                  <a:schemeClr val="dk1"/>
                </a:solidFill>
              </a:rPr>
              <a:t>, which consists of two parts: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100">
                <a:solidFill>
                  <a:schemeClr val="dk1"/>
                </a:solidFill>
              </a:rPr>
              <a:t>Data:</a:t>
            </a:r>
            <a:r>
              <a:rPr lang="es" sz="1100">
                <a:solidFill>
                  <a:schemeClr val="dk1"/>
                </a:solidFill>
              </a:rPr>
              <a:t> The actual value stored (integer, string, etc.).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100">
                <a:solidFill>
                  <a:schemeClr val="dk1"/>
                </a:solidFill>
              </a:rPr>
              <a:t>Next:</a:t>
            </a:r>
            <a:r>
              <a:rPr lang="es" sz="1100">
                <a:solidFill>
                  <a:schemeClr val="dk1"/>
                </a:solidFill>
              </a:rPr>
              <a:t> A pointer or reference to the next node in the sequence.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</a:rPr>
              <a:t>3. Key Characteristics</a:t>
            </a:r>
            <a:endParaRPr b="1" sz="13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100">
                <a:solidFill>
                  <a:schemeClr val="dk1"/>
                </a:solidFill>
              </a:rPr>
              <a:t>Head:</a:t>
            </a:r>
            <a:r>
              <a:rPr lang="es" sz="1100">
                <a:solidFill>
                  <a:schemeClr val="dk1"/>
                </a:solidFill>
              </a:rPr>
              <a:t> The entry point of the list (the first node).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100">
                <a:solidFill>
                  <a:schemeClr val="dk1"/>
                </a:solidFill>
              </a:rPr>
              <a:t>Tail:</a:t>
            </a:r>
            <a:r>
              <a:rPr lang="es" sz="1100">
                <a:solidFill>
                  <a:schemeClr val="dk1"/>
                </a:solidFill>
              </a:rPr>
              <a:t> The last node, which points to </a:t>
            </a:r>
            <a:r>
              <a:rPr b="1" lang="es" sz="1100">
                <a:solidFill>
                  <a:schemeClr val="dk1"/>
                </a:solidFill>
              </a:rPr>
              <a:t>NULL</a:t>
            </a:r>
            <a:r>
              <a:rPr lang="es" sz="1100">
                <a:solidFill>
                  <a:schemeClr val="dk1"/>
                </a:solidFill>
              </a:rPr>
              <a:t>, signifying the end of the list.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100">
                <a:solidFill>
                  <a:schemeClr val="dk1"/>
                </a:solidFill>
              </a:rPr>
              <a:t>Dynamic Size:</a:t>
            </a:r>
            <a:r>
              <a:rPr lang="es" sz="1100">
                <a:solidFill>
                  <a:schemeClr val="dk1"/>
                </a:solidFill>
              </a:rPr>
              <a:t> It can grow or shrink during execution by allocating or deallocating memory.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65" name="Google Shape;65;p14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3850" y="1616608"/>
            <a:ext cx="4903550" cy="133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7581900" y="1616600"/>
            <a:ext cx="519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AA84F"/>
                </a:solidFill>
              </a:rPr>
              <a:t>Tail</a:t>
            </a:r>
            <a:endParaRPr sz="1300">
              <a:solidFill>
                <a:srgbClr val="6AA84F"/>
              </a:solidFill>
            </a:endParaRPr>
          </a:p>
        </p:txBody>
      </p:sp>
      <p:cxnSp>
        <p:nvCxnSpPr>
          <p:cNvPr id="68" name="Google Shape;68;p14"/>
          <p:cNvCxnSpPr>
            <a:stCxn id="67" idx="2"/>
          </p:cNvCxnSpPr>
          <p:nvPr/>
        </p:nvCxnSpPr>
        <p:spPr>
          <a:xfrm>
            <a:off x="7841850" y="2001500"/>
            <a:ext cx="6900" cy="2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Structure</a:t>
            </a:r>
            <a:endParaRPr b="1"/>
          </a:p>
        </p:txBody>
      </p:sp>
      <p:sp>
        <p:nvSpPr>
          <p:cNvPr id="74" name="Google Shape;74;p15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75" name="Google Shape;75;p15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24550" y="1503825"/>
            <a:ext cx="727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459900" y="1039638"/>
            <a:ext cx="31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Controller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278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3566800" y="1611375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TAIL</a:t>
            </a:r>
            <a:endParaRPr/>
          </a:p>
        </p:txBody>
      </p:sp>
      <p:cxnSp>
        <p:nvCxnSpPr>
          <p:cNvPr id="80" name="Google Shape;80;p15"/>
          <p:cNvCxnSpPr>
            <a:stCxn id="79" idx="2"/>
          </p:cNvCxnSpPr>
          <p:nvPr/>
        </p:nvCxnSpPr>
        <p:spPr>
          <a:xfrm>
            <a:off x="3994450" y="1971075"/>
            <a:ext cx="9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5"/>
          <p:cNvSpPr txBox="1"/>
          <p:nvPr/>
        </p:nvSpPr>
        <p:spPr>
          <a:xfrm>
            <a:off x="3861338" y="27552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2" name="Google Shape;82;p15"/>
          <p:cNvCxnSpPr/>
          <p:nvPr/>
        </p:nvCxnSpPr>
        <p:spPr>
          <a:xfrm>
            <a:off x="911650" y="1971075"/>
            <a:ext cx="9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5"/>
          <p:cNvSpPr txBox="1"/>
          <p:nvPr/>
        </p:nvSpPr>
        <p:spPr>
          <a:xfrm>
            <a:off x="627800" y="2710575"/>
            <a:ext cx="14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None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728150" y="2755200"/>
            <a:ext cx="14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None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Operation : append (A)</a:t>
            </a:r>
            <a:endParaRPr b="1"/>
          </a:p>
        </p:txBody>
      </p:sp>
      <p:sp>
        <p:nvSpPr>
          <p:cNvPr id="90" name="Google Shape;90;p16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91" name="Google Shape;91;p16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424550" y="1503825"/>
            <a:ext cx="727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459900" y="1039638"/>
            <a:ext cx="31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Controller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278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638425" y="1611375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TAIL</a:t>
            </a:r>
            <a:endParaRPr/>
          </a:p>
        </p:txBody>
      </p:sp>
      <p:grpSp>
        <p:nvGrpSpPr>
          <p:cNvPr id="96" name="Google Shape;96;p16"/>
          <p:cNvGrpSpPr/>
          <p:nvPr/>
        </p:nvGrpSpPr>
        <p:grpSpPr>
          <a:xfrm>
            <a:off x="1061550" y="2420139"/>
            <a:ext cx="2224108" cy="1131811"/>
            <a:chOff x="1061550" y="2420139"/>
            <a:chExt cx="2224108" cy="1131811"/>
          </a:xfrm>
        </p:grpSpPr>
        <p:sp>
          <p:nvSpPr>
            <p:cNvPr id="97" name="Google Shape;97;p16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8" name="Google Shape;98;p16"/>
            <p:cNvCxnSpPr>
              <a:endCxn id="97" idx="1"/>
            </p:cNvCxnSpPr>
            <p:nvPr/>
          </p:nvCxnSpPr>
          <p:spPr>
            <a:xfrm>
              <a:off x="1061550" y="2993500"/>
              <a:ext cx="682800" cy="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9" name="Google Shape;99;p16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100" name="Google Shape;100;p16"/>
            <p:cNvCxnSpPr>
              <a:endCxn id="97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" name="Google Shape;101;p16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cxnSp>
        <p:nvCxnSpPr>
          <p:cNvPr id="103" name="Google Shape;103;p16"/>
          <p:cNvCxnSpPr>
            <a:stCxn id="94" idx="2"/>
          </p:cNvCxnSpPr>
          <p:nvPr/>
        </p:nvCxnSpPr>
        <p:spPr>
          <a:xfrm>
            <a:off x="1055450" y="1971050"/>
            <a:ext cx="11400" cy="10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6"/>
          <p:cNvCxnSpPr>
            <a:stCxn id="95" idx="2"/>
          </p:cNvCxnSpPr>
          <p:nvPr/>
        </p:nvCxnSpPr>
        <p:spPr>
          <a:xfrm>
            <a:off x="2066075" y="1971075"/>
            <a:ext cx="9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6"/>
          <p:cNvSpPr txBox="1"/>
          <p:nvPr/>
        </p:nvSpPr>
        <p:spPr>
          <a:xfrm>
            <a:off x="435425" y="3810000"/>
            <a:ext cx="768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update tail reference and last node reference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be aware of the condition when the head and tail are null (empty list)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1917338" y="27552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7" name="Google Shape;107;p16"/>
          <p:cNvCxnSpPr>
            <a:stCxn id="97" idx="3"/>
            <a:endCxn id="108" idx="1"/>
          </p:cNvCxnSpPr>
          <p:nvPr/>
        </p:nvCxnSpPr>
        <p:spPr>
          <a:xfrm>
            <a:off x="3052050" y="2998900"/>
            <a:ext cx="5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6"/>
          <p:cNvSpPr txBox="1"/>
          <p:nvPr/>
        </p:nvSpPr>
        <p:spPr>
          <a:xfrm>
            <a:off x="3631075" y="2768050"/>
            <a:ext cx="14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None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Operation : append (B)</a:t>
            </a:r>
            <a:endParaRPr b="1"/>
          </a:p>
        </p:txBody>
      </p:sp>
      <p:sp>
        <p:nvSpPr>
          <p:cNvPr id="115" name="Google Shape;115;p17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116" name="Google Shape;116;p17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24550" y="1503825"/>
            <a:ext cx="727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459900" y="1039638"/>
            <a:ext cx="31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Controller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278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3457800" y="1611375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TAIL</a:t>
            </a:r>
            <a:endParaRPr/>
          </a:p>
        </p:txBody>
      </p:sp>
      <p:grpSp>
        <p:nvGrpSpPr>
          <p:cNvPr id="121" name="Google Shape;121;p17"/>
          <p:cNvGrpSpPr/>
          <p:nvPr/>
        </p:nvGrpSpPr>
        <p:grpSpPr>
          <a:xfrm>
            <a:off x="1061550" y="2420139"/>
            <a:ext cx="2224108" cy="1131811"/>
            <a:chOff x="1061550" y="2420139"/>
            <a:chExt cx="2224108" cy="1131811"/>
          </a:xfrm>
        </p:grpSpPr>
        <p:sp>
          <p:nvSpPr>
            <p:cNvPr id="122" name="Google Shape;122;p17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" name="Google Shape;123;p17"/>
            <p:cNvCxnSpPr>
              <a:endCxn id="122" idx="1"/>
            </p:cNvCxnSpPr>
            <p:nvPr/>
          </p:nvCxnSpPr>
          <p:spPr>
            <a:xfrm>
              <a:off x="1061550" y="2993500"/>
              <a:ext cx="682800" cy="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" name="Google Shape;124;p17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125" name="Google Shape;125;p17"/>
            <p:cNvCxnSpPr>
              <a:endCxn id="122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" name="Google Shape;126;p17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cxnSp>
        <p:nvCxnSpPr>
          <p:cNvPr id="128" name="Google Shape;128;p17"/>
          <p:cNvCxnSpPr>
            <a:stCxn id="119" idx="2"/>
          </p:cNvCxnSpPr>
          <p:nvPr/>
        </p:nvCxnSpPr>
        <p:spPr>
          <a:xfrm>
            <a:off x="1055450" y="1971050"/>
            <a:ext cx="11400" cy="10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7"/>
          <p:cNvSpPr/>
          <p:nvPr/>
        </p:nvSpPr>
        <p:spPr>
          <a:xfrm>
            <a:off x="3560329" y="2712550"/>
            <a:ext cx="1307700" cy="572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3924929" y="2420139"/>
            <a:ext cx="6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Node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131" name="Google Shape;131;p17"/>
          <p:cNvCxnSpPr>
            <a:endCxn id="129" idx="2"/>
          </p:cNvCxnSpPr>
          <p:nvPr/>
        </p:nvCxnSpPr>
        <p:spPr>
          <a:xfrm>
            <a:off x="4210579" y="2714050"/>
            <a:ext cx="36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7"/>
          <p:cNvSpPr txBox="1"/>
          <p:nvPr/>
        </p:nvSpPr>
        <p:spPr>
          <a:xfrm>
            <a:off x="3511337" y="3182650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element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4325537" y="3182650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next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34" name="Google Shape;134;p17"/>
          <p:cNvCxnSpPr>
            <a:stCxn id="120" idx="2"/>
          </p:cNvCxnSpPr>
          <p:nvPr/>
        </p:nvCxnSpPr>
        <p:spPr>
          <a:xfrm>
            <a:off x="3885450" y="1971075"/>
            <a:ext cx="9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7"/>
          <p:cNvCxnSpPr>
            <a:stCxn id="129" idx="3"/>
          </p:cNvCxnSpPr>
          <p:nvPr/>
        </p:nvCxnSpPr>
        <p:spPr>
          <a:xfrm>
            <a:off x="4868029" y="2998900"/>
            <a:ext cx="5961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17"/>
          <p:cNvSpPr txBox="1"/>
          <p:nvPr/>
        </p:nvSpPr>
        <p:spPr>
          <a:xfrm>
            <a:off x="5464125" y="2770900"/>
            <a:ext cx="14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None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435425" y="3810000"/>
            <a:ext cx="768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update tail reference and last node reference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be aware of the condition when the head and tail are null (empty list)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917338" y="27552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683700" y="27709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0" name="Google Shape;140;p17"/>
          <p:cNvCxnSpPr>
            <a:stCxn id="122" idx="3"/>
            <a:endCxn id="129" idx="1"/>
          </p:cNvCxnSpPr>
          <p:nvPr/>
        </p:nvCxnSpPr>
        <p:spPr>
          <a:xfrm>
            <a:off x="3052050" y="2998900"/>
            <a:ext cx="5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Operation : append (C)</a:t>
            </a:r>
            <a:endParaRPr b="1"/>
          </a:p>
        </p:txBody>
      </p:sp>
      <p:sp>
        <p:nvSpPr>
          <p:cNvPr id="146" name="Google Shape;146;p18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147" name="Google Shape;147;p18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/>
          <p:nvPr/>
        </p:nvSpPr>
        <p:spPr>
          <a:xfrm>
            <a:off x="424550" y="1503825"/>
            <a:ext cx="727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59900" y="1039638"/>
            <a:ext cx="31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Controller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6278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5640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TAIL</a:t>
            </a:r>
            <a:endParaRPr/>
          </a:p>
        </p:txBody>
      </p:sp>
      <p:grpSp>
        <p:nvGrpSpPr>
          <p:cNvPr id="152" name="Google Shape;152;p18"/>
          <p:cNvGrpSpPr/>
          <p:nvPr/>
        </p:nvGrpSpPr>
        <p:grpSpPr>
          <a:xfrm>
            <a:off x="1061550" y="2420139"/>
            <a:ext cx="2224108" cy="1131811"/>
            <a:chOff x="1061550" y="2420139"/>
            <a:chExt cx="2224108" cy="1131811"/>
          </a:xfrm>
        </p:grpSpPr>
        <p:sp>
          <p:nvSpPr>
            <p:cNvPr id="153" name="Google Shape;153;p18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4" name="Google Shape;154;p18"/>
            <p:cNvCxnSpPr>
              <a:endCxn id="153" idx="1"/>
            </p:cNvCxnSpPr>
            <p:nvPr/>
          </p:nvCxnSpPr>
          <p:spPr>
            <a:xfrm>
              <a:off x="1061550" y="2993500"/>
              <a:ext cx="682800" cy="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5" name="Google Shape;155;p18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156" name="Google Shape;156;p18"/>
            <p:cNvCxnSpPr>
              <a:endCxn id="153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" name="Google Shape;157;p18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cxnSp>
        <p:nvCxnSpPr>
          <p:cNvPr id="159" name="Google Shape;159;p18"/>
          <p:cNvCxnSpPr>
            <a:stCxn id="150" idx="2"/>
          </p:cNvCxnSpPr>
          <p:nvPr/>
        </p:nvCxnSpPr>
        <p:spPr>
          <a:xfrm>
            <a:off x="1055450" y="1971050"/>
            <a:ext cx="11400" cy="10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0" name="Google Shape;160;p18"/>
          <p:cNvGrpSpPr/>
          <p:nvPr/>
        </p:nvGrpSpPr>
        <p:grpSpPr>
          <a:xfrm>
            <a:off x="3048179" y="2420139"/>
            <a:ext cx="2224108" cy="1131811"/>
            <a:chOff x="1061550" y="2420139"/>
            <a:chExt cx="2224108" cy="1131811"/>
          </a:xfrm>
        </p:grpSpPr>
        <p:sp>
          <p:nvSpPr>
            <p:cNvPr id="161" name="Google Shape;161;p18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2" name="Google Shape;162;p18"/>
            <p:cNvCxnSpPr>
              <a:endCxn id="161" idx="1"/>
            </p:cNvCxnSpPr>
            <p:nvPr/>
          </p:nvCxnSpPr>
          <p:spPr>
            <a:xfrm>
              <a:off x="1061550" y="2993500"/>
              <a:ext cx="682800" cy="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3" name="Google Shape;163;p18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164" name="Google Shape;164;p18"/>
            <p:cNvCxnSpPr>
              <a:endCxn id="161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" name="Google Shape;165;p18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sp>
        <p:nvSpPr>
          <p:cNvPr id="167" name="Google Shape;167;p18"/>
          <p:cNvSpPr/>
          <p:nvPr/>
        </p:nvSpPr>
        <p:spPr>
          <a:xfrm>
            <a:off x="5721679" y="2712550"/>
            <a:ext cx="1307700" cy="572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18"/>
          <p:cNvCxnSpPr>
            <a:endCxn id="167" idx="1"/>
          </p:cNvCxnSpPr>
          <p:nvPr/>
        </p:nvCxnSpPr>
        <p:spPr>
          <a:xfrm>
            <a:off x="5038879" y="2993500"/>
            <a:ext cx="682800" cy="54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18"/>
          <p:cNvSpPr txBox="1"/>
          <p:nvPr/>
        </p:nvSpPr>
        <p:spPr>
          <a:xfrm>
            <a:off x="6086279" y="2420139"/>
            <a:ext cx="6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Node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170" name="Google Shape;170;p18"/>
          <p:cNvCxnSpPr>
            <a:endCxn id="167" idx="2"/>
          </p:cNvCxnSpPr>
          <p:nvPr/>
        </p:nvCxnSpPr>
        <p:spPr>
          <a:xfrm>
            <a:off x="6371929" y="2714050"/>
            <a:ext cx="36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18"/>
          <p:cNvSpPr txBox="1"/>
          <p:nvPr/>
        </p:nvSpPr>
        <p:spPr>
          <a:xfrm>
            <a:off x="5672687" y="3182650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element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486887" y="3182650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next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73" name="Google Shape;173;p18"/>
          <p:cNvCxnSpPr>
            <a:stCxn id="151" idx="2"/>
          </p:cNvCxnSpPr>
          <p:nvPr/>
        </p:nvCxnSpPr>
        <p:spPr>
          <a:xfrm>
            <a:off x="5991650" y="1971050"/>
            <a:ext cx="9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8"/>
          <p:cNvCxnSpPr>
            <a:stCxn id="167" idx="3"/>
          </p:cNvCxnSpPr>
          <p:nvPr/>
        </p:nvCxnSpPr>
        <p:spPr>
          <a:xfrm>
            <a:off x="7029379" y="2998900"/>
            <a:ext cx="5961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18"/>
          <p:cNvSpPr txBox="1"/>
          <p:nvPr/>
        </p:nvSpPr>
        <p:spPr>
          <a:xfrm>
            <a:off x="7625475" y="2770900"/>
            <a:ext cx="14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None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35425" y="3810000"/>
            <a:ext cx="768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update tail reference and last node reference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be aware of the condition when the head and tail are null (empty list)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917338" y="27552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3846350" y="27709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845050" y="27709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Operation : delete (B)</a:t>
            </a:r>
            <a:endParaRPr b="1"/>
          </a:p>
        </p:txBody>
      </p:sp>
      <p:sp>
        <p:nvSpPr>
          <p:cNvPr id="185" name="Google Shape;185;p19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186" name="Google Shape;186;p19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424550" y="1503825"/>
            <a:ext cx="727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59900" y="1039638"/>
            <a:ext cx="31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Controller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278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5640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TAIL</a:t>
            </a:r>
            <a:endParaRPr/>
          </a:p>
        </p:txBody>
      </p:sp>
      <p:grpSp>
        <p:nvGrpSpPr>
          <p:cNvPr id="191" name="Google Shape;191;p19"/>
          <p:cNvGrpSpPr/>
          <p:nvPr/>
        </p:nvGrpSpPr>
        <p:grpSpPr>
          <a:xfrm>
            <a:off x="1061550" y="2420139"/>
            <a:ext cx="2224108" cy="1131811"/>
            <a:chOff x="1061550" y="2420139"/>
            <a:chExt cx="2224108" cy="1131811"/>
          </a:xfrm>
        </p:grpSpPr>
        <p:sp>
          <p:nvSpPr>
            <p:cNvPr id="192" name="Google Shape;192;p19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" name="Google Shape;193;p19"/>
            <p:cNvCxnSpPr>
              <a:endCxn id="192" idx="1"/>
            </p:cNvCxnSpPr>
            <p:nvPr/>
          </p:nvCxnSpPr>
          <p:spPr>
            <a:xfrm>
              <a:off x="1061550" y="2993500"/>
              <a:ext cx="682800" cy="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4" name="Google Shape;194;p19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195" name="Google Shape;195;p19"/>
            <p:cNvCxnSpPr>
              <a:endCxn id="192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" name="Google Shape;196;p19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cxnSp>
        <p:nvCxnSpPr>
          <p:cNvPr id="198" name="Google Shape;198;p19"/>
          <p:cNvCxnSpPr>
            <a:stCxn id="189" idx="2"/>
          </p:cNvCxnSpPr>
          <p:nvPr/>
        </p:nvCxnSpPr>
        <p:spPr>
          <a:xfrm>
            <a:off x="1055450" y="1971050"/>
            <a:ext cx="11400" cy="10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9" name="Google Shape;199;p19"/>
          <p:cNvGrpSpPr/>
          <p:nvPr/>
        </p:nvGrpSpPr>
        <p:grpSpPr>
          <a:xfrm>
            <a:off x="4974064" y="2447900"/>
            <a:ext cx="2300308" cy="1131811"/>
            <a:chOff x="985350" y="2420139"/>
            <a:chExt cx="2300308" cy="1131811"/>
          </a:xfrm>
        </p:grpSpPr>
        <p:sp>
          <p:nvSpPr>
            <p:cNvPr id="200" name="Google Shape;200;p19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1" name="Google Shape;201;p19"/>
            <p:cNvCxnSpPr/>
            <p:nvPr/>
          </p:nvCxnSpPr>
          <p:spPr>
            <a:xfrm>
              <a:off x="985350" y="2993500"/>
              <a:ext cx="129600" cy="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2" name="Google Shape;202;p19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203" name="Google Shape;203;p19"/>
            <p:cNvCxnSpPr>
              <a:endCxn id="200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" name="Google Shape;204;p19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sp>
        <p:nvSpPr>
          <p:cNvPr id="206" name="Google Shape;206;p19"/>
          <p:cNvSpPr/>
          <p:nvPr/>
        </p:nvSpPr>
        <p:spPr>
          <a:xfrm>
            <a:off x="3669718" y="2730821"/>
            <a:ext cx="1307700" cy="572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19"/>
          <p:cNvCxnSpPr/>
          <p:nvPr/>
        </p:nvCxnSpPr>
        <p:spPr>
          <a:xfrm>
            <a:off x="2915407" y="2304196"/>
            <a:ext cx="2913900" cy="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9"/>
          <p:cNvSpPr txBox="1"/>
          <p:nvPr/>
        </p:nvSpPr>
        <p:spPr>
          <a:xfrm>
            <a:off x="4099632" y="2438411"/>
            <a:ext cx="6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Node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209" name="Google Shape;209;p19"/>
          <p:cNvCxnSpPr>
            <a:endCxn id="206" idx="2"/>
          </p:cNvCxnSpPr>
          <p:nvPr/>
        </p:nvCxnSpPr>
        <p:spPr>
          <a:xfrm>
            <a:off x="4319968" y="2732321"/>
            <a:ext cx="36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19"/>
          <p:cNvSpPr txBox="1"/>
          <p:nvPr/>
        </p:nvSpPr>
        <p:spPr>
          <a:xfrm>
            <a:off x="3686040" y="3200921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element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4500240" y="3200921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next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12" name="Google Shape;212;p19"/>
          <p:cNvCxnSpPr/>
          <p:nvPr/>
        </p:nvCxnSpPr>
        <p:spPr>
          <a:xfrm>
            <a:off x="6122279" y="1971046"/>
            <a:ext cx="9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19"/>
          <p:cNvCxnSpPr/>
          <p:nvPr/>
        </p:nvCxnSpPr>
        <p:spPr>
          <a:xfrm>
            <a:off x="7040282" y="3015071"/>
            <a:ext cx="5961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19"/>
          <p:cNvSpPr txBox="1"/>
          <p:nvPr/>
        </p:nvSpPr>
        <p:spPr>
          <a:xfrm>
            <a:off x="7710904" y="2807696"/>
            <a:ext cx="14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null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5030013" y="2776968"/>
            <a:ext cx="14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null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16" name="Google Shape;216;p19"/>
          <p:cNvCxnSpPr/>
          <p:nvPr/>
        </p:nvCxnSpPr>
        <p:spPr>
          <a:xfrm flipH="1">
            <a:off x="2915400" y="2304200"/>
            <a:ext cx="5400" cy="40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9"/>
          <p:cNvCxnSpPr/>
          <p:nvPr/>
        </p:nvCxnSpPr>
        <p:spPr>
          <a:xfrm>
            <a:off x="5834750" y="2307764"/>
            <a:ext cx="900" cy="46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19"/>
          <p:cNvSpPr txBox="1"/>
          <p:nvPr/>
        </p:nvSpPr>
        <p:spPr>
          <a:xfrm>
            <a:off x="435425" y="3810000"/>
            <a:ext cx="768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update the reference of the </a:t>
            </a:r>
            <a:r>
              <a:rPr lang="es" sz="1800">
                <a:solidFill>
                  <a:schemeClr val="dk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neighbours</a:t>
            </a:r>
            <a:r>
              <a:rPr lang="es" sz="1800">
                <a:solidFill>
                  <a:schemeClr val="dk2"/>
                </a:solidFill>
              </a:rPr>
              <a:t> position nodes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1917338" y="27552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5845050" y="27709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3846350" y="27709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Operation : insert (1, E)</a:t>
            </a:r>
            <a:endParaRPr b="1"/>
          </a:p>
        </p:txBody>
      </p:sp>
      <p:sp>
        <p:nvSpPr>
          <p:cNvPr id="227" name="Google Shape;227;p20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228" name="Google Shape;228;p20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/>
          <p:nvPr/>
        </p:nvSpPr>
        <p:spPr>
          <a:xfrm>
            <a:off x="424550" y="1503825"/>
            <a:ext cx="727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459900" y="1039638"/>
            <a:ext cx="31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Controller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278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5640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TAIL</a:t>
            </a:r>
            <a:endParaRPr/>
          </a:p>
        </p:txBody>
      </p:sp>
      <p:grpSp>
        <p:nvGrpSpPr>
          <p:cNvPr id="233" name="Google Shape;233;p20"/>
          <p:cNvGrpSpPr/>
          <p:nvPr/>
        </p:nvGrpSpPr>
        <p:grpSpPr>
          <a:xfrm>
            <a:off x="1061550" y="2420139"/>
            <a:ext cx="2224108" cy="1131811"/>
            <a:chOff x="1061550" y="2420139"/>
            <a:chExt cx="2224108" cy="1131811"/>
          </a:xfrm>
        </p:grpSpPr>
        <p:sp>
          <p:nvSpPr>
            <p:cNvPr id="234" name="Google Shape;234;p20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5" name="Google Shape;235;p20"/>
            <p:cNvCxnSpPr>
              <a:endCxn id="234" idx="1"/>
            </p:cNvCxnSpPr>
            <p:nvPr/>
          </p:nvCxnSpPr>
          <p:spPr>
            <a:xfrm>
              <a:off x="1061550" y="2993500"/>
              <a:ext cx="682800" cy="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6" name="Google Shape;236;p20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237" name="Google Shape;237;p20"/>
            <p:cNvCxnSpPr>
              <a:endCxn id="234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20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cxnSp>
        <p:nvCxnSpPr>
          <p:cNvPr id="240" name="Google Shape;240;p20"/>
          <p:cNvCxnSpPr>
            <a:stCxn id="231" idx="2"/>
          </p:cNvCxnSpPr>
          <p:nvPr/>
        </p:nvCxnSpPr>
        <p:spPr>
          <a:xfrm>
            <a:off x="1055450" y="1971050"/>
            <a:ext cx="11400" cy="10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1" name="Google Shape;241;p20"/>
          <p:cNvGrpSpPr/>
          <p:nvPr/>
        </p:nvGrpSpPr>
        <p:grpSpPr>
          <a:xfrm>
            <a:off x="5050264" y="2447900"/>
            <a:ext cx="2224108" cy="1131811"/>
            <a:chOff x="1061550" y="2420139"/>
            <a:chExt cx="2224108" cy="1131811"/>
          </a:xfrm>
        </p:grpSpPr>
        <p:sp>
          <p:nvSpPr>
            <p:cNvPr id="242" name="Google Shape;242;p20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3" name="Google Shape;243;p20"/>
            <p:cNvCxnSpPr>
              <a:endCxn id="242" idx="1"/>
            </p:cNvCxnSpPr>
            <p:nvPr/>
          </p:nvCxnSpPr>
          <p:spPr>
            <a:xfrm>
              <a:off x="1061550" y="2993500"/>
              <a:ext cx="682800" cy="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4" name="Google Shape;244;p20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245" name="Google Shape;245;p20"/>
            <p:cNvCxnSpPr>
              <a:endCxn id="242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6" name="Google Shape;246;p20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sp>
        <p:nvSpPr>
          <p:cNvPr id="248" name="Google Shape;248;p20"/>
          <p:cNvSpPr/>
          <p:nvPr/>
        </p:nvSpPr>
        <p:spPr>
          <a:xfrm>
            <a:off x="3735032" y="2730821"/>
            <a:ext cx="1307700" cy="572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" name="Google Shape;249;p20"/>
          <p:cNvCxnSpPr>
            <a:endCxn id="248" idx="1"/>
          </p:cNvCxnSpPr>
          <p:nvPr/>
        </p:nvCxnSpPr>
        <p:spPr>
          <a:xfrm>
            <a:off x="3052232" y="3011771"/>
            <a:ext cx="682800" cy="54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20"/>
          <p:cNvSpPr txBox="1"/>
          <p:nvPr/>
        </p:nvSpPr>
        <p:spPr>
          <a:xfrm>
            <a:off x="4099632" y="2438411"/>
            <a:ext cx="6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Node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251" name="Google Shape;251;p20"/>
          <p:cNvCxnSpPr>
            <a:endCxn id="248" idx="2"/>
          </p:cNvCxnSpPr>
          <p:nvPr/>
        </p:nvCxnSpPr>
        <p:spPr>
          <a:xfrm>
            <a:off x="4385282" y="2732321"/>
            <a:ext cx="36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0"/>
          <p:cNvSpPr txBox="1"/>
          <p:nvPr/>
        </p:nvSpPr>
        <p:spPr>
          <a:xfrm>
            <a:off x="3686040" y="3200921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element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500240" y="3200921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next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54" name="Google Shape;254;p20"/>
          <p:cNvCxnSpPr/>
          <p:nvPr/>
        </p:nvCxnSpPr>
        <p:spPr>
          <a:xfrm>
            <a:off x="6122279" y="1971046"/>
            <a:ext cx="9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0"/>
          <p:cNvCxnSpPr/>
          <p:nvPr/>
        </p:nvCxnSpPr>
        <p:spPr>
          <a:xfrm>
            <a:off x="7040282" y="3015071"/>
            <a:ext cx="5961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20"/>
          <p:cNvSpPr txBox="1"/>
          <p:nvPr/>
        </p:nvSpPr>
        <p:spPr>
          <a:xfrm>
            <a:off x="7710904" y="2807696"/>
            <a:ext cx="14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null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435425" y="3810000"/>
            <a:ext cx="768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update the reference of </a:t>
            </a:r>
            <a:r>
              <a:rPr lang="es" sz="1800">
                <a:solidFill>
                  <a:schemeClr val="dk2"/>
                </a:solidFill>
              </a:rPr>
              <a:t>the </a:t>
            </a:r>
            <a:r>
              <a:rPr lang="es" sz="1800">
                <a:solidFill>
                  <a:schemeClr val="dk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neighbours</a:t>
            </a:r>
            <a:r>
              <a:rPr lang="es" sz="1800">
                <a:solidFill>
                  <a:schemeClr val="dk2"/>
                </a:solidFill>
              </a:rPr>
              <a:t> </a:t>
            </a:r>
            <a:r>
              <a:rPr lang="es" sz="1800">
                <a:solidFill>
                  <a:schemeClr val="dk2"/>
                </a:solidFill>
              </a:rPr>
              <a:t>position</a:t>
            </a:r>
            <a:r>
              <a:rPr lang="es" sz="1800">
                <a:solidFill>
                  <a:schemeClr val="dk2"/>
                </a:solidFill>
              </a:rPr>
              <a:t> nodes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be aware of the condition when the head and tail are null (empty list)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3846350" y="27709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1857788" y="27709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5839738" y="28077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Operation : update (1, Z)</a:t>
            </a:r>
            <a:endParaRPr b="1"/>
          </a:p>
        </p:txBody>
      </p:sp>
      <p:sp>
        <p:nvSpPr>
          <p:cNvPr id="266" name="Google Shape;266;p21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267" name="Google Shape;267;p21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/>
          <p:nvPr/>
        </p:nvSpPr>
        <p:spPr>
          <a:xfrm>
            <a:off x="424550" y="1503825"/>
            <a:ext cx="727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459900" y="1039638"/>
            <a:ext cx="31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Controller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6278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</a:t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5564000" y="1611350"/>
            <a:ext cx="855300" cy="3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TAIL</a:t>
            </a:r>
            <a:endParaRPr/>
          </a:p>
        </p:txBody>
      </p:sp>
      <p:grpSp>
        <p:nvGrpSpPr>
          <p:cNvPr id="272" name="Google Shape;272;p21"/>
          <p:cNvGrpSpPr/>
          <p:nvPr/>
        </p:nvGrpSpPr>
        <p:grpSpPr>
          <a:xfrm>
            <a:off x="1061550" y="2420139"/>
            <a:ext cx="2224108" cy="1131811"/>
            <a:chOff x="1061550" y="2420139"/>
            <a:chExt cx="2224108" cy="1131811"/>
          </a:xfrm>
        </p:grpSpPr>
        <p:sp>
          <p:nvSpPr>
            <p:cNvPr id="273" name="Google Shape;273;p21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4" name="Google Shape;274;p21"/>
            <p:cNvCxnSpPr>
              <a:endCxn id="273" idx="1"/>
            </p:cNvCxnSpPr>
            <p:nvPr/>
          </p:nvCxnSpPr>
          <p:spPr>
            <a:xfrm>
              <a:off x="1061550" y="2993500"/>
              <a:ext cx="682800" cy="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5" name="Google Shape;275;p21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276" name="Google Shape;276;p21"/>
            <p:cNvCxnSpPr>
              <a:endCxn id="273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7" name="Google Shape;277;p21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cxnSp>
        <p:nvCxnSpPr>
          <p:cNvPr id="279" name="Google Shape;279;p21"/>
          <p:cNvCxnSpPr>
            <a:stCxn id="270" idx="2"/>
          </p:cNvCxnSpPr>
          <p:nvPr/>
        </p:nvCxnSpPr>
        <p:spPr>
          <a:xfrm>
            <a:off x="1055450" y="1971050"/>
            <a:ext cx="11400" cy="10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0" name="Google Shape;280;p21"/>
          <p:cNvGrpSpPr/>
          <p:nvPr/>
        </p:nvGrpSpPr>
        <p:grpSpPr>
          <a:xfrm>
            <a:off x="5050264" y="2447900"/>
            <a:ext cx="2224108" cy="1131811"/>
            <a:chOff x="1061550" y="2420139"/>
            <a:chExt cx="2224108" cy="1131811"/>
          </a:xfrm>
        </p:grpSpPr>
        <p:sp>
          <p:nvSpPr>
            <p:cNvPr id="281" name="Google Shape;281;p21"/>
            <p:cNvSpPr/>
            <p:nvPr/>
          </p:nvSpPr>
          <p:spPr>
            <a:xfrm>
              <a:off x="1744350" y="2712550"/>
              <a:ext cx="1307700" cy="57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2" name="Google Shape;282;p21"/>
            <p:cNvCxnSpPr>
              <a:endCxn id="281" idx="1"/>
            </p:cNvCxnSpPr>
            <p:nvPr/>
          </p:nvCxnSpPr>
          <p:spPr>
            <a:xfrm>
              <a:off x="1061550" y="2993500"/>
              <a:ext cx="682800" cy="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3" name="Google Shape;283;p21"/>
            <p:cNvSpPr txBox="1"/>
            <p:nvPr/>
          </p:nvSpPr>
          <p:spPr>
            <a:xfrm>
              <a:off x="2108950" y="2420139"/>
              <a:ext cx="60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2"/>
                  </a:solidFill>
                </a:rPr>
                <a:t>Node</a:t>
              </a:r>
              <a:endParaRPr b="1" sz="1200">
                <a:solidFill>
                  <a:schemeClr val="dk2"/>
                </a:solidFill>
              </a:endParaRPr>
            </a:p>
          </p:txBody>
        </p:sp>
        <p:cxnSp>
          <p:nvCxnSpPr>
            <p:cNvPr id="284" name="Google Shape;284;p21"/>
            <p:cNvCxnSpPr>
              <a:endCxn id="281" idx="2"/>
            </p:cNvCxnSpPr>
            <p:nvPr/>
          </p:nvCxnSpPr>
          <p:spPr>
            <a:xfrm>
              <a:off x="2394600" y="2714050"/>
              <a:ext cx="3600" cy="57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5" name="Google Shape;285;p21"/>
            <p:cNvSpPr txBox="1"/>
            <p:nvPr/>
          </p:nvSpPr>
          <p:spPr>
            <a:xfrm>
              <a:off x="16953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element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286" name="Google Shape;286;p21"/>
            <p:cNvSpPr txBox="1"/>
            <p:nvPr/>
          </p:nvSpPr>
          <p:spPr>
            <a:xfrm>
              <a:off x="2509558" y="3182650"/>
              <a:ext cx="77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</a:rPr>
                <a:t>next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sp>
        <p:nvSpPr>
          <p:cNvPr id="287" name="Google Shape;287;p21"/>
          <p:cNvSpPr/>
          <p:nvPr/>
        </p:nvSpPr>
        <p:spPr>
          <a:xfrm>
            <a:off x="3735032" y="2730821"/>
            <a:ext cx="1307700" cy="572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" name="Google Shape;288;p21"/>
          <p:cNvCxnSpPr>
            <a:endCxn id="287" idx="1"/>
          </p:cNvCxnSpPr>
          <p:nvPr/>
        </p:nvCxnSpPr>
        <p:spPr>
          <a:xfrm>
            <a:off x="3052232" y="3011771"/>
            <a:ext cx="682800" cy="54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21"/>
          <p:cNvSpPr txBox="1"/>
          <p:nvPr/>
        </p:nvSpPr>
        <p:spPr>
          <a:xfrm>
            <a:off x="4099632" y="2438411"/>
            <a:ext cx="6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Node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290" name="Google Shape;290;p21"/>
          <p:cNvCxnSpPr>
            <a:endCxn id="287" idx="2"/>
          </p:cNvCxnSpPr>
          <p:nvPr/>
        </p:nvCxnSpPr>
        <p:spPr>
          <a:xfrm>
            <a:off x="4385282" y="2732321"/>
            <a:ext cx="36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21"/>
          <p:cNvSpPr txBox="1"/>
          <p:nvPr/>
        </p:nvSpPr>
        <p:spPr>
          <a:xfrm>
            <a:off x="3686040" y="3200921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element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500240" y="3200921"/>
            <a:ext cx="7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next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>
            <a:off x="6122279" y="1971046"/>
            <a:ext cx="9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21"/>
          <p:cNvCxnSpPr/>
          <p:nvPr/>
        </p:nvCxnSpPr>
        <p:spPr>
          <a:xfrm>
            <a:off x="7040282" y="3015071"/>
            <a:ext cx="5961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21"/>
          <p:cNvSpPr txBox="1"/>
          <p:nvPr/>
        </p:nvSpPr>
        <p:spPr>
          <a:xfrm>
            <a:off x="7710904" y="2807696"/>
            <a:ext cx="14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null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35425" y="3810000"/>
            <a:ext cx="768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update the reference of the </a:t>
            </a:r>
            <a:r>
              <a:rPr lang="es" sz="1800">
                <a:solidFill>
                  <a:schemeClr val="dk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neighbours</a:t>
            </a:r>
            <a:r>
              <a:rPr lang="es" sz="1800">
                <a:solidFill>
                  <a:schemeClr val="dk2"/>
                </a:solidFill>
              </a:rPr>
              <a:t> position nodes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be aware of the condition when the head and tail are null (empty list)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3846350" y="27709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Z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857788" y="27709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5839738" y="2807700"/>
            <a:ext cx="4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305" name="Google Shape;305;p22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6" name="Google Shape;306;p22"/>
          <p:cNvGraphicFramePr/>
          <p:nvPr/>
        </p:nvGraphicFramePr>
        <p:xfrm>
          <a:off x="986025" y="128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{2CF06701-8991-4E9C-98F2-AF8AB3E64776}</a:tableStyleId>
              </a:tblPr>
              <a:tblGrid>
                <a:gridCol w="2413000"/>
                <a:gridCol w="2413000"/>
                <a:gridCol w="2413000"/>
              </a:tblGrid>
              <a:tr h="44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Aspect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Array List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Linked List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Access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For element: O(n)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For index O(1)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Binary Search: O(log(n))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O(n)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no index is possible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Insert/Delete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requires shifting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O(n)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no </a:t>
                      </a:r>
                      <a:r>
                        <a:rPr lang="es"/>
                        <a:t>shifting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O(1)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Memory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Memory Wastage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memory is only consumed when a new node is actually created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7" name="Google Shape;307;p22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Linked list vs Array List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"/>
          <p:cNvSpPr txBox="1"/>
          <p:nvPr>
            <p:ph type="title"/>
          </p:nvPr>
        </p:nvSpPr>
        <p:spPr>
          <a:xfrm>
            <a:off x="311700" y="35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Implementation - node</a:t>
            </a:r>
            <a:endParaRPr b="1"/>
          </a:p>
        </p:txBody>
      </p:sp>
      <p:sp>
        <p:nvSpPr>
          <p:cNvPr id="313" name="Google Shape;313;p23"/>
          <p:cNvSpPr/>
          <p:nvPr/>
        </p:nvSpPr>
        <p:spPr>
          <a:xfrm>
            <a:off x="6300" y="4738775"/>
            <a:ext cx="9144000" cy="404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A86E8"/>
              </a:highlight>
            </a:endParaRPr>
          </a:p>
        </p:txBody>
      </p:sp>
      <p:pic>
        <p:nvPicPr>
          <p:cNvPr id="314" name="Google Shape;314;p23" title="fa48973430a60c1eabd1d72f809e2c4c.png"/>
          <p:cNvPicPr preferRelativeResize="0"/>
          <p:nvPr/>
        </p:nvPicPr>
        <p:blipFill rotWithShape="1">
          <a:blip r:embed="rId3">
            <a:alphaModFix/>
          </a:blip>
          <a:srcRect b="46316" l="35946" r="35038" t="18469"/>
          <a:stretch/>
        </p:blipFill>
        <p:spPr>
          <a:xfrm>
            <a:off x="8363663" y="4241950"/>
            <a:ext cx="723725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9025" y="929625"/>
            <a:ext cx="4005950" cy="33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